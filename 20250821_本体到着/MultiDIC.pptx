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720" autoAdjust="0"/>
  </p:normalViewPr>
  <p:slideViewPr>
    <p:cSldViewPr snapToGrid="0">
      <p:cViewPr varScale="1">
        <p:scale>
          <a:sx n="77" d="100"/>
          <a:sy n="77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1FD1-F11B-48DB-BDD8-6D298C7693A7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8B1B-B433-4A8A-B2DC-F73534BE4A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75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1FD1-F11B-48DB-BDD8-6D298C7693A7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8B1B-B433-4A8A-B2DC-F73534BE4A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081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1FD1-F11B-48DB-BDD8-6D298C7693A7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8B1B-B433-4A8A-B2DC-F73534BE4A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8907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1FD1-F11B-48DB-BDD8-6D298C7693A7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8B1B-B433-4A8A-B2DC-F73534BE4A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063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1FD1-F11B-48DB-BDD8-6D298C7693A7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8B1B-B433-4A8A-B2DC-F73534BE4A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30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1FD1-F11B-48DB-BDD8-6D298C7693A7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8B1B-B433-4A8A-B2DC-F73534BE4A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968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1FD1-F11B-48DB-BDD8-6D298C7693A7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8B1B-B433-4A8A-B2DC-F73534BE4A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643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1FD1-F11B-48DB-BDD8-6D298C7693A7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8B1B-B433-4A8A-B2DC-F73534BE4A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0260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1FD1-F11B-48DB-BDD8-6D298C7693A7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8B1B-B433-4A8A-B2DC-F73534BE4A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09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1FD1-F11B-48DB-BDD8-6D298C7693A7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8B1B-B433-4A8A-B2DC-F73534BE4A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771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11FD1-F11B-48DB-BDD8-6D298C7693A7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48B1B-B433-4A8A-B2DC-F73534BE4A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015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811FD1-F11B-48DB-BDD8-6D298C7693A7}" type="datetimeFigureOut">
              <a:rPr lang="en-GB" smtClean="0"/>
              <a:t>15/08/2025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048B1B-B433-4A8A-B2DC-F73534BE4A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280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mazon.co.jp/%E3%82%B9%E3%82%A4%E3%83%83%E3%83%81%E3%83%B3%E3%82%B0%E3%83%8F%E3%83%96-%E3%82%AE%E3%82%AC%E3%83%93%E3%83%83%E3%83%88%E5%AF%BE%E5%BF%9C-%E3%83%9D%E3%83%BC%E3%83%88VLAN-%E3%83%AA%E3%83%B3%E3%82%AF%E3%82%A2%E3%82%B0%E3%83%AA%E3%82%B2%E3%83%BC%E3%82%B7%E3%83%A7%E3%83%B3-ETG-ESH24LM/dp/B0D1XNG622/ref=sr_1_25?__mk_ja_JP=%E3%82%AB%E3%82%BF%E3%82%AB%E3%83%8A&amp;crid=1TSCJ5802HM6V&amp;dib=eyJ2IjoiMSJ9.F_rRKA9-wzX_2kzOdvCFzsEXriwvL2_ecMMxIt-Y0ScjxSbTQOTbkixDA3jB4hcnzGmMGgJNnHTdfBz7p_WWSjkwBaJXAQ2B5DfVlGw_fQsTN-M-mGpbzZTk23ONtr-Wdd3dKMaVGpwdI6LTQRyZ1giSeYU7YlGPKj71xfzgRPbjXNBRbL-dEl_SpH-XbkkcUkiV7GcgQjRoMx-gLyaTmTcclOpy3ZVloye7COroidi8b7aZsNzlw_BAPcDn8assCfc0VxVJq1h_ur1flnpAozNnH_TvQQY6NzHB1vWNrxQ.-cEm4NMwvJYYbawxikb7G6jXPa0pAU2kvXQePPh8wh0&amp;dib_tag=se&amp;keywords=poe%2B%E3%82%B9%E3%82%A4%E3%83%83%E3%83%81%2B24%E3%83%9D%E3%83%BC%E3%83%88&amp;qid=1755149980&amp;sprefix=poe%2B%E3%82%B9%E3%82%A4%E3%83%83%E3%83%81%2B24%E3%83%9D%E3%83%BC%E3%83%88%2Caps%2C199&amp;sr=8-25&amp;th=1" TargetMode="External"/><Relationship Id="rId3" Type="http://schemas.openxmlformats.org/officeDocument/2006/relationships/hyperlink" Target="https://www.amazon.co.jp/%E3%83%A9%E3%82%BA%E3%83%99%E3%83%AA%E3%83%BC%E3%83%91%E3%82%A4-%E3%82%B3%E3%83%B3%E3%83%94%E3%83%A5%E3%83%BC%E3%82%BF%E3%83%BC%E3%83%A2%E3%83%87%E3%83%ABB-Raspberry-%E3%83%A9%E3%82%BA%E3%83%91%E3%82%A4-TELEC%E8%AA%8D%E5%AE%9A%E5%8F%96%E5%BE%97%E6%B8%88%E3%81%BF/dp/B089GSG8Y1" TargetMode="External"/><Relationship Id="rId7" Type="http://schemas.openxmlformats.org/officeDocument/2006/relationships/hyperlink" Target="https://www.powered.jp/SHOP/KSY-9.html" TargetMode="External"/><Relationship Id="rId2" Type="http://schemas.openxmlformats.org/officeDocument/2006/relationships/hyperlink" Target="https://www.amazon.co.jp/%E3%80%90%E5%9B%BD%E5%86%85%E6%AD%A3%E8%A6%8F%E4%BB%A3%E7%90%86%E5%BA%97%E5%93%81%E3%80%91Raspberry-Pi4-ModelB-%E3%83%A9%E3%82%BA%E3%83%99%E3%83%AA%E3%83%BC%E3%83%91%E3%82%A44-%E6%8A%80%E9%81%A9%E5%AF%BE%E5%BF%9C%E5%93%81/dp/B081YD3VL5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raspberry-pi.ksyic.com/main/index/pdp.id/635,1009,1008,636,637,689/pdp.open/635/" TargetMode="External"/><Relationship Id="rId5" Type="http://schemas.openxmlformats.org/officeDocument/2006/relationships/hyperlink" Target="https://raspberry-pi.ksyic.com/main/index/pdp.id/546,547/" TargetMode="External"/><Relationship Id="rId4" Type="http://schemas.openxmlformats.org/officeDocument/2006/relationships/hyperlink" Target="https://www.amazon.co.jp/Raspberry-High-Quality-Camera-RPI-HQ-CAMERA/dp/B089LWL2CM" TargetMode="External"/><Relationship Id="rId9" Type="http://schemas.openxmlformats.org/officeDocument/2006/relationships/hyperlink" Target="https://www.digikey.jp/ja/products/detail/raspberry-pi/SC0546/13901220?gclsrc=aw.ds&amp;gad_source=1&amp;gad_campaignid=19897040877&amp;gbraid=0AAAAADrbLlh6LXFMH-ITKGelDc15KpJ8z&amp;gclid=CjwKCAjw7_DEBhAeEiwAWKiCC87Wp0EPm9eyh-4DoZvE6VSrSLRP_33aaOX0MwV6CZSqBqvakyZAshoCZpcQAvD_BwE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BD042-FEBC-7495-B106-4A7A4BA9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1904D28-C5D1-0283-97A9-1814BDEA9DFA}"/>
              </a:ext>
            </a:extLst>
          </p:cNvPr>
          <p:cNvSpPr txBox="1"/>
          <p:nvPr/>
        </p:nvSpPr>
        <p:spPr>
          <a:xfrm>
            <a:off x="195556" y="152400"/>
            <a:ext cx="46312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Times New Roman" panose="02020603050405020304" pitchFamily="18" charset="0"/>
                <a:ea typeface="ＭＳ 明朝" panose="02020609040205080304" pitchFamily="17" charset="-128"/>
              </a:rPr>
              <a:t>主要コンポーネント</a:t>
            </a:r>
            <a:endParaRPr lang="en-GB" dirty="0">
              <a:latin typeface="Times New Roman" panose="02020603050405020304" pitchFamily="18" charset="0"/>
              <a:ea typeface="ＭＳ 明朝" panose="02020609040205080304" pitchFamily="17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46F31A6-A3CA-5951-FF71-1949DC93B21A}"/>
              </a:ext>
            </a:extLst>
          </p:cNvPr>
          <p:cNvSpPr txBox="1"/>
          <p:nvPr/>
        </p:nvSpPr>
        <p:spPr>
          <a:xfrm>
            <a:off x="195556" y="232260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Times New Roman" panose="02020603050405020304" pitchFamily="18" charset="0"/>
                <a:ea typeface="ＭＳ 明朝" panose="02020609040205080304" pitchFamily="17" charset="-128"/>
              </a:rPr>
              <a:t>ネットワーク・電源関連</a:t>
            </a:r>
            <a:endParaRPr lang="en-GB" dirty="0">
              <a:latin typeface="Times New Roman" panose="02020603050405020304" pitchFamily="18" charset="0"/>
              <a:ea typeface="ＭＳ 明朝" panose="02020609040205080304" pitchFamily="17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B93A832-67A3-AF20-9C89-8C31B1D688BA}"/>
              </a:ext>
            </a:extLst>
          </p:cNvPr>
          <p:cNvSpPr txBox="1"/>
          <p:nvPr/>
        </p:nvSpPr>
        <p:spPr>
          <a:xfrm>
            <a:off x="195556" y="402973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ＭＳ 明朝" panose="02020609040205080304" pitchFamily="17" charset="-128"/>
              </a:rPr>
              <a:t>周辺機器</a:t>
            </a:r>
            <a:endParaRPr lang="en-GB" dirty="0">
              <a:latin typeface="Times New Roman" panose="02020603050405020304" pitchFamily="18" charset="0"/>
              <a:ea typeface="ＭＳ 明朝" panose="02020609040205080304" pitchFamily="17" charset="-128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551D5297-0F41-5FA6-B6C5-5E89341E2D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937737"/>
              </p:ext>
            </p:extLst>
          </p:nvPr>
        </p:nvGraphicFramePr>
        <p:xfrm>
          <a:off x="195556" y="512649"/>
          <a:ext cx="8758337" cy="1574407"/>
        </p:xfrm>
        <a:graphic>
          <a:graphicData uri="http://schemas.openxmlformats.org/drawingml/2006/table">
            <a:tbl>
              <a:tblPr/>
              <a:tblGrid>
                <a:gridCol w="2140268">
                  <a:extLst>
                    <a:ext uri="{9D8B030D-6E8A-4147-A177-3AD203B41FA5}">
                      <a16:colId xmlns:a16="http://schemas.microsoft.com/office/drawing/2014/main" val="2750140192"/>
                    </a:ext>
                  </a:extLst>
                </a:gridCol>
                <a:gridCol w="2206023">
                  <a:extLst>
                    <a:ext uri="{9D8B030D-6E8A-4147-A177-3AD203B41FA5}">
                      <a16:colId xmlns:a16="http://schemas.microsoft.com/office/drawing/2014/main" val="1596637634"/>
                    </a:ext>
                  </a:extLst>
                </a:gridCol>
                <a:gridCol w="2206023">
                  <a:extLst>
                    <a:ext uri="{9D8B030D-6E8A-4147-A177-3AD203B41FA5}">
                      <a16:colId xmlns:a16="http://schemas.microsoft.com/office/drawing/2014/main" val="2297412171"/>
                    </a:ext>
                  </a:extLst>
                </a:gridCol>
                <a:gridCol w="2206023">
                  <a:extLst>
                    <a:ext uri="{9D8B030D-6E8A-4147-A177-3AD203B41FA5}">
                      <a16:colId xmlns:a16="http://schemas.microsoft.com/office/drawing/2014/main" val="2532767450"/>
                    </a:ext>
                  </a:extLst>
                </a:gridCol>
              </a:tblGrid>
              <a:tr h="159287">
                <a:tc>
                  <a:txBody>
                    <a:bodyPr/>
                    <a:lstStyle/>
                    <a:p>
                      <a:r>
                        <a:rPr lang="zh-TW" altLang="en-US" sz="1000"/>
                        <a:t>機器名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数量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用途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価格（円）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169999"/>
                  </a:ext>
                </a:extLst>
              </a:tr>
              <a:tr h="224658"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rgbClr val="FF0000"/>
                          </a:solidFill>
                          <a:hlinkClick r:id="rId2"/>
                        </a:rPr>
                        <a:t>Raspberry Pi 4 Model B (4GB)</a:t>
                      </a:r>
                      <a:endParaRPr lang="en-GB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3</a:t>
                      </a:r>
                      <a:r>
                        <a:rPr lang="zh-TW" altLang="en-US" sz="1000" dirty="0"/>
                        <a:t>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/>
                        <a:t>クライアント（画像撮影用）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9,000*3=27000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255551"/>
                  </a:ext>
                </a:extLst>
              </a:tr>
              <a:tr h="320940"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rgbClr val="FF0000"/>
                          </a:solidFill>
                          <a:hlinkClick r:id="rId3"/>
                        </a:rPr>
                        <a:t>Raspberry Pi 4 Model B (8GB)</a:t>
                      </a:r>
                      <a:endParaRPr lang="en-GB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/>
                        <a:t>1</a:t>
                      </a:r>
                      <a:r>
                        <a:rPr lang="zh-TW" altLang="en-US" sz="1000"/>
                        <a:t>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/>
                        <a:t>サーバー（制御・</a:t>
                      </a:r>
                      <a:r>
                        <a:rPr lang="en-US" altLang="ja-JP" sz="1000"/>
                        <a:t>NTP</a:t>
                      </a:r>
                      <a:r>
                        <a:rPr lang="ja-JP" altLang="en-US" sz="1000"/>
                        <a:t>・画像収集）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14,494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9699357"/>
                  </a:ext>
                </a:extLst>
              </a:tr>
              <a:tr h="224658"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rgbClr val="FF0000"/>
                          </a:solidFill>
                          <a:hlinkClick r:id="rId4"/>
                        </a:rPr>
                        <a:t>Raspberry Pi HQ Camera</a:t>
                      </a:r>
                      <a:endParaRPr lang="en-GB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3</a:t>
                      </a:r>
                      <a:r>
                        <a:rPr lang="zh-TW" altLang="en-US" sz="1000" dirty="0"/>
                        <a:t>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高品質画像撮影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10,480*3=31440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1097184"/>
                  </a:ext>
                </a:extLst>
              </a:tr>
              <a:tr h="278107"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rgbClr val="FF0000"/>
                          </a:solidFill>
                          <a:hlinkClick r:id="rId5"/>
                        </a:rPr>
                        <a:t>Raspberry Pi HQ Camera</a:t>
                      </a:r>
                      <a:r>
                        <a:rPr lang="zh-TW" altLang="en-US" sz="1000" b="1" dirty="0">
                          <a:solidFill>
                            <a:srgbClr val="FF0000"/>
                          </a:solidFill>
                          <a:hlinkClick r:id="rId5"/>
                        </a:rPr>
                        <a:t>用</a:t>
                      </a:r>
                      <a:r>
                        <a:rPr lang="ja-JP" altLang="en-US" sz="1000" b="1" dirty="0">
                          <a:solidFill>
                            <a:srgbClr val="FF0000"/>
                          </a:solidFill>
                          <a:hlinkClick r:id="rId5"/>
                        </a:rPr>
                        <a:t>レンズ</a:t>
                      </a:r>
                      <a:endParaRPr lang="ja-JP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3</a:t>
                      </a:r>
                      <a:r>
                        <a:rPr lang="zh-TW" altLang="en-US" sz="1000" dirty="0"/>
                        <a:t>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 dirty="0"/>
                        <a:t>カメラ用光学レンズ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4,620*3=13860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9027498"/>
                  </a:ext>
                </a:extLst>
              </a:tr>
              <a:tr h="224658">
                <a:tc>
                  <a:txBody>
                    <a:bodyPr/>
                    <a:lstStyle/>
                    <a:p>
                      <a:r>
                        <a:rPr lang="en-US" altLang="ja-JP" sz="1000" b="1" dirty="0">
                          <a:hlinkClick r:id="rId6"/>
                        </a:rPr>
                        <a:t>Raspberry Pi 4</a:t>
                      </a:r>
                      <a:r>
                        <a:rPr lang="ja-JP" altLang="en-US" sz="1000" b="1" dirty="0">
                          <a:hlinkClick r:id="rId6"/>
                        </a:rPr>
                        <a:t>用アルミケース</a:t>
                      </a:r>
                      <a:endParaRPr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/>
                        <a:t>3</a:t>
                      </a:r>
                      <a:r>
                        <a:rPr lang="zh-TW" altLang="en-US" sz="1000"/>
                        <a:t>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本体保護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1,760*3=5280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560664"/>
                  </a:ext>
                </a:extLst>
              </a:tr>
            </a:tbl>
          </a:graphicData>
        </a:graphic>
      </p:graphicFrame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A10BB796-6208-B62B-B3E9-1E3DE5010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124873"/>
              </p:ext>
            </p:extLst>
          </p:nvPr>
        </p:nvGraphicFramePr>
        <p:xfrm>
          <a:off x="195556" y="2816721"/>
          <a:ext cx="7886700" cy="97536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3687519437"/>
                    </a:ext>
                  </a:extLst>
                </a:gridCol>
                <a:gridCol w="2242317">
                  <a:extLst>
                    <a:ext uri="{9D8B030D-6E8A-4147-A177-3AD203B41FA5}">
                      <a16:colId xmlns:a16="http://schemas.microsoft.com/office/drawing/2014/main" val="2393013637"/>
                    </a:ext>
                  </a:extLst>
                </a:gridCol>
                <a:gridCol w="1701033">
                  <a:extLst>
                    <a:ext uri="{9D8B030D-6E8A-4147-A177-3AD203B41FA5}">
                      <a16:colId xmlns:a16="http://schemas.microsoft.com/office/drawing/2014/main" val="76922120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696635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機器名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数量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用途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価格（円）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197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000" b="1" dirty="0"/>
                        <a:t>イーサネットケーブル </a:t>
                      </a:r>
                      <a:r>
                        <a:rPr lang="en-US" altLang="ja-JP" sz="1000" b="1" dirty="0"/>
                        <a:t>(CAT6)</a:t>
                      </a:r>
                      <a:endParaRPr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4</a:t>
                      </a:r>
                      <a:r>
                        <a:rPr lang="zh-TW" altLang="en-US" sz="1000" dirty="0"/>
                        <a:t>本</a:t>
                      </a:r>
                      <a:r>
                        <a:rPr lang="ja-JP" altLang="en-US" sz="1000" dirty="0"/>
                        <a:t>　（必要であれば買い出し）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/>
                        <a:t>ネットワーク接続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097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ja-JP" sz="1000" b="1" dirty="0">
                          <a:hlinkClick r:id="rId7"/>
                        </a:rPr>
                        <a:t>USB-C</a:t>
                      </a:r>
                      <a:r>
                        <a:rPr lang="ja-JP" altLang="en-US" sz="1000" b="1" dirty="0">
                          <a:hlinkClick r:id="rId7"/>
                        </a:rPr>
                        <a:t>電源アダプター </a:t>
                      </a:r>
                      <a:r>
                        <a:rPr lang="en-US" altLang="ja-JP" sz="1000" b="1" dirty="0">
                          <a:hlinkClick r:id="rId7"/>
                        </a:rPr>
                        <a:t>(5V/3A)</a:t>
                      </a:r>
                      <a:endParaRPr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altLang="zh-TW" sz="1000" dirty="0"/>
                        <a:t>1</a:t>
                      </a:r>
                      <a:r>
                        <a:rPr lang="zh-TW" altLang="en-US" sz="1000" dirty="0"/>
                        <a:t>個</a:t>
                      </a:r>
                      <a:r>
                        <a:rPr lang="ja-JP" altLang="en-US" sz="1000" dirty="0"/>
                        <a:t>（必要であれば買い足し）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dirty="0"/>
                        <a:t>Raspberry Pi</a:t>
                      </a:r>
                      <a:r>
                        <a:rPr lang="zh-TW" altLang="en-US" sz="1000" dirty="0"/>
                        <a:t>電源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2,732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614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000" b="1" dirty="0">
                          <a:solidFill>
                            <a:srgbClr val="FF0000"/>
                          </a:solidFill>
                          <a:hlinkClick r:id="rId8"/>
                        </a:rPr>
                        <a:t>ギガビットスイッチ </a:t>
                      </a:r>
                      <a:r>
                        <a:rPr lang="en-US" altLang="ja-JP" sz="1000" b="1" dirty="0">
                          <a:solidFill>
                            <a:srgbClr val="FF0000"/>
                          </a:solidFill>
                          <a:hlinkClick r:id="rId8"/>
                        </a:rPr>
                        <a:t>(24</a:t>
                      </a:r>
                      <a:r>
                        <a:rPr lang="ja-JP" altLang="en-US" sz="1000" b="1" dirty="0">
                          <a:solidFill>
                            <a:srgbClr val="FF0000"/>
                          </a:solidFill>
                          <a:hlinkClick r:id="rId8"/>
                        </a:rPr>
                        <a:t>ポート</a:t>
                      </a:r>
                      <a:r>
                        <a:rPr lang="en-US" altLang="ja-JP" sz="1000" b="1" dirty="0">
                          <a:solidFill>
                            <a:srgbClr val="FF0000"/>
                          </a:solidFill>
                          <a:hlinkClick r:id="rId8"/>
                        </a:rPr>
                        <a:t>)</a:t>
                      </a:r>
                      <a:endParaRPr lang="ja-JP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/>
                        <a:t>1</a:t>
                      </a:r>
                      <a:r>
                        <a:rPr lang="zh-TW" altLang="en-US" sz="1000"/>
                        <a:t>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/>
                        <a:t>ネットワークハブ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14,808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945804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709679B3-E0BD-674D-3CB8-FDEE5F5B8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798957"/>
              </p:ext>
            </p:extLst>
          </p:nvPr>
        </p:nvGraphicFramePr>
        <p:xfrm>
          <a:off x="195556" y="4523849"/>
          <a:ext cx="7886700" cy="170688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149028071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725572429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444187726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0607108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TW" altLang="en-US" sz="1000" dirty="0"/>
                        <a:t>機器名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数量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用途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000"/>
                        <a:t>推定価格（円）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001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000" b="1" dirty="0">
                          <a:hlinkClick r:id="rId9"/>
                        </a:rPr>
                        <a:t>Micro HDMI - HDMI</a:t>
                      </a:r>
                      <a:r>
                        <a:rPr lang="ja-JP" altLang="en-US" sz="1000" b="1" dirty="0">
                          <a:hlinkClick r:id="rId9"/>
                        </a:rPr>
                        <a:t>ケーブル</a:t>
                      </a:r>
                      <a:endParaRPr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/>
                        <a:t>1</a:t>
                      </a:r>
                      <a:r>
                        <a:rPr lang="zh-TW" altLang="en-US" sz="1000"/>
                        <a:t>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/>
                        <a:t>ディスプレイ接続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762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907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ja-JP" altLang="en-US" sz="1000" b="1"/>
                        <a:t>コンピューターモニター</a:t>
                      </a:r>
                      <a:endParaRPr lang="ja-JP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1</a:t>
                      </a:r>
                      <a:r>
                        <a:rPr lang="zh-TW" altLang="en-US" sz="1000" dirty="0"/>
                        <a:t>台</a:t>
                      </a:r>
                      <a:r>
                        <a:rPr lang="ja-JP" altLang="en-US" sz="1000" dirty="0"/>
                        <a:t>（必要であれば買い出し）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/>
                        <a:t>設定・操作用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300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000" b="1" dirty="0"/>
                        <a:t>USB </a:t>
                      </a:r>
                      <a:r>
                        <a:rPr lang="ja-JP" altLang="en-US" sz="1000" b="1" dirty="0"/>
                        <a:t>キーボード</a:t>
                      </a:r>
                      <a:endParaRPr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1</a:t>
                      </a:r>
                      <a:r>
                        <a:rPr lang="zh-TW" altLang="en-US" sz="1000" dirty="0"/>
                        <a:t>個</a:t>
                      </a:r>
                      <a:r>
                        <a:rPr lang="ja-JP" altLang="en-US" sz="1000" dirty="0"/>
                        <a:t>（必要であれば買い出し）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/>
                        <a:t>設定・操作用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083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000" b="1"/>
                        <a:t>USB </a:t>
                      </a:r>
                      <a:r>
                        <a:rPr lang="ja-JP" altLang="en-US" sz="1000" b="1"/>
                        <a:t>マウス</a:t>
                      </a:r>
                      <a:endParaRPr lang="ja-JP" altLang="en-US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1</a:t>
                      </a:r>
                      <a:r>
                        <a:rPr lang="zh-TW" altLang="en-US" sz="1000" dirty="0"/>
                        <a:t>個</a:t>
                      </a:r>
                      <a:r>
                        <a:rPr lang="ja-JP" altLang="en-US" sz="1000" dirty="0"/>
                        <a:t>（必要であれば買い出し）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/>
                        <a:t>設定・操作用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971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ja-JP" sz="1000" b="1" dirty="0"/>
                        <a:t>USB </a:t>
                      </a:r>
                      <a:r>
                        <a:rPr lang="ja-JP" altLang="en-US" sz="1000" b="1" dirty="0"/>
                        <a:t>フラッシュドライブ</a:t>
                      </a:r>
                      <a:endParaRPr lang="ja-JP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1</a:t>
                      </a:r>
                      <a:r>
                        <a:rPr lang="zh-TW" altLang="en-US" sz="1000" dirty="0"/>
                        <a:t>個</a:t>
                      </a:r>
                      <a:r>
                        <a:rPr lang="ja-JP" altLang="en-US" sz="1000" dirty="0"/>
                        <a:t>（必要であれば買い出し）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000" dirty="0"/>
                        <a:t>プログラム転送用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101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sz="1000" b="1" dirty="0">
                          <a:solidFill>
                            <a:srgbClr val="FF0000"/>
                          </a:solidFill>
                        </a:rPr>
                        <a:t>microSD</a:t>
                      </a:r>
                      <a:r>
                        <a:rPr lang="ja-JP" altLang="en-US" sz="1000" b="1" dirty="0">
                          <a:solidFill>
                            <a:srgbClr val="FF0000"/>
                          </a:solidFill>
                        </a:rPr>
                        <a:t>カード </a:t>
                      </a:r>
                      <a:r>
                        <a:rPr lang="en-US" altLang="ja-JP" sz="1000" b="1" dirty="0">
                          <a:solidFill>
                            <a:srgbClr val="FF0000"/>
                          </a:solidFill>
                        </a:rPr>
                        <a:t>(32</a:t>
                      </a:r>
                      <a:r>
                        <a:rPr lang="en-GB" sz="1000" b="1" dirty="0">
                          <a:solidFill>
                            <a:srgbClr val="FF0000"/>
                          </a:solidFill>
                        </a:rPr>
                        <a:t>GB</a:t>
                      </a:r>
                      <a:r>
                        <a:rPr lang="zh-TW" altLang="en-US" sz="1000" b="1" dirty="0">
                          <a:solidFill>
                            <a:srgbClr val="FF0000"/>
                          </a:solidFill>
                        </a:rPr>
                        <a:t>以上</a:t>
                      </a:r>
                      <a:r>
                        <a:rPr lang="en-US" altLang="zh-TW" sz="10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zh-TW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1000" dirty="0"/>
                        <a:t>3</a:t>
                      </a:r>
                      <a:r>
                        <a:rPr lang="zh-TW" altLang="en-US" sz="1000" dirty="0"/>
                        <a:t>枚</a:t>
                      </a:r>
                      <a:r>
                        <a:rPr lang="ja-JP" altLang="en-US" sz="1000" dirty="0"/>
                        <a:t>（必要であれば買い出し）</a:t>
                      </a:r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000"/>
                        <a:t>OS</a:t>
                      </a:r>
                      <a:r>
                        <a:rPr lang="ja-JP" altLang="en-US" sz="1000"/>
                        <a:t>・プログラム保存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363038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275817E-104A-77FF-6AF1-EECD4BFD0AF8}"/>
              </a:ext>
            </a:extLst>
          </p:cNvPr>
          <p:cNvSpPr txBox="1"/>
          <p:nvPr/>
        </p:nvSpPr>
        <p:spPr>
          <a:xfrm>
            <a:off x="254822" y="63362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Times New Roman" panose="02020603050405020304" pitchFamily="18" charset="0"/>
                <a:ea typeface="ＭＳ 明朝" panose="02020609040205080304" pitchFamily="17" charset="-128"/>
              </a:rPr>
              <a:t>計 </a:t>
            </a:r>
            <a:r>
              <a:rPr lang="en-GB" dirty="0">
                <a:latin typeface="Times New Roman" panose="02020603050405020304" pitchFamily="18" charset="0"/>
                <a:ea typeface="ＭＳ 明朝" panose="02020609040205080304" pitchFamily="17" charset="-128"/>
              </a:rPr>
              <a:t>110,376</a:t>
            </a:r>
            <a:r>
              <a:rPr lang="ja-JP" altLang="en-US" dirty="0">
                <a:latin typeface="Times New Roman" panose="02020603050405020304" pitchFamily="18" charset="0"/>
                <a:ea typeface="ＭＳ 明朝" panose="02020609040205080304" pitchFamily="17" charset="-128"/>
              </a:rPr>
              <a:t>円</a:t>
            </a:r>
            <a:endParaRPr lang="en-GB" dirty="0">
              <a:latin typeface="Times New Roman" panose="02020603050405020304" pitchFamily="18" charset="0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2492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49B46-ED9F-DE6C-1D14-DEC7D3AB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F8306F-F9FE-FE95-7BA2-B2A522BC2E04}"/>
              </a:ext>
            </a:extLst>
          </p:cNvPr>
          <p:cNvSpPr txBox="1"/>
          <p:nvPr/>
        </p:nvSpPr>
        <p:spPr>
          <a:xfrm>
            <a:off x="285750" y="576293"/>
            <a:ext cx="85725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b="1" dirty="0"/>
              <a:t>購入時の注意点</a:t>
            </a:r>
          </a:p>
          <a:p>
            <a:pPr>
              <a:buFont typeface="+mj-lt"/>
              <a:buAutoNum type="arabicPeriod"/>
            </a:pPr>
            <a:r>
              <a:rPr lang="en-US" altLang="ja-JP" b="1" dirty="0"/>
              <a:t>Raspberry Pi HQ Camera</a:t>
            </a:r>
            <a:r>
              <a:rPr lang="ja-JP" altLang="en-US" b="1" dirty="0"/>
              <a:t>用レンズ</a:t>
            </a:r>
            <a:r>
              <a:rPr lang="ja-JP" alt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ja-JP" dirty="0"/>
              <a:t>6mm CS-mount</a:t>
            </a:r>
            <a:r>
              <a:rPr lang="ja-JP" altLang="en-US" dirty="0"/>
              <a:t>レンズまたは</a:t>
            </a:r>
            <a:r>
              <a:rPr lang="en-US" altLang="ja-JP" dirty="0"/>
              <a:t>16mm C-mount</a:t>
            </a:r>
            <a:r>
              <a:rPr lang="ja-JP" altLang="en-US" dirty="0"/>
              <a:t>レンズを推奨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撮影対象に応じて焦点距離を選択</a:t>
            </a:r>
          </a:p>
          <a:p>
            <a:pPr>
              <a:buFont typeface="+mj-lt"/>
              <a:buAutoNum type="arabicPeriod"/>
            </a:pPr>
            <a:r>
              <a:rPr lang="en-US" altLang="ja-JP" b="1" dirty="0"/>
              <a:t>PoE</a:t>
            </a:r>
            <a:r>
              <a:rPr lang="ja-JP" altLang="en-US" b="1" dirty="0"/>
              <a:t>スイッチ</a:t>
            </a:r>
            <a:r>
              <a:rPr lang="ja-JP" alt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最低</a:t>
            </a:r>
            <a:r>
              <a:rPr lang="en-US" altLang="ja-JP" dirty="0"/>
              <a:t>16</a:t>
            </a:r>
            <a:r>
              <a:rPr lang="ja-JP" altLang="en-US" dirty="0"/>
              <a:t>ポート必要（将来拡張を考慮し</a:t>
            </a:r>
            <a:r>
              <a:rPr lang="en-US" altLang="ja-JP" dirty="0"/>
              <a:t>24</a:t>
            </a:r>
            <a:r>
              <a:rPr lang="ja-JP" altLang="en-US" dirty="0"/>
              <a:t>ポート推奨）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ギガビット対応必須</a:t>
            </a:r>
          </a:p>
          <a:p>
            <a:pPr>
              <a:buFont typeface="+mj-lt"/>
              <a:buAutoNum type="arabicPeriod"/>
            </a:pPr>
            <a:r>
              <a:rPr lang="ja-JP" altLang="en-US" b="1" dirty="0"/>
              <a:t>電源</a:t>
            </a:r>
            <a:r>
              <a:rPr lang="ja-JP" alt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各</a:t>
            </a:r>
            <a:r>
              <a:rPr lang="en-US" altLang="ja-JP" dirty="0"/>
              <a:t>Raspberry Pi 4</a:t>
            </a:r>
            <a:r>
              <a:rPr lang="ja-JP" altLang="en-US" dirty="0"/>
              <a:t>に</a:t>
            </a:r>
            <a:r>
              <a:rPr lang="en-US" altLang="ja-JP" dirty="0"/>
              <a:t>5V/3A</a:t>
            </a:r>
            <a:r>
              <a:rPr lang="ja-JP" altLang="en-US" dirty="0"/>
              <a:t>電源が必要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ja-JP" dirty="0"/>
              <a:t>USB-C</a:t>
            </a:r>
            <a:r>
              <a:rPr lang="ja-JP" altLang="en-US" dirty="0"/>
              <a:t>端子対応</a:t>
            </a:r>
          </a:p>
          <a:p>
            <a:pPr>
              <a:buFont typeface="+mj-lt"/>
              <a:buAutoNum type="arabicPeriod"/>
            </a:pPr>
            <a:r>
              <a:rPr lang="ja-JP" altLang="en-US" b="1" dirty="0"/>
              <a:t>ストレージ</a:t>
            </a:r>
            <a:r>
              <a:rPr lang="ja-JP" altLang="en-US" dirty="0"/>
              <a:t>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ja-JP" dirty="0"/>
              <a:t>Class 10</a:t>
            </a:r>
            <a:r>
              <a:rPr lang="ja-JP" altLang="en-US" dirty="0"/>
              <a:t>以上の</a:t>
            </a:r>
            <a:r>
              <a:rPr lang="en-US" altLang="ja-JP" dirty="0"/>
              <a:t>microSD</a:t>
            </a:r>
            <a:r>
              <a:rPr lang="ja-JP" altLang="en-US" dirty="0"/>
              <a:t>カード推奨</a:t>
            </a:r>
          </a:p>
          <a:p>
            <a:pPr marL="742950" lvl="1" indent="-285750">
              <a:buFont typeface="+mj-lt"/>
              <a:buAutoNum type="arabicPeriod"/>
            </a:pPr>
            <a:r>
              <a:rPr lang="ja-JP" altLang="en-US" dirty="0"/>
              <a:t>高速なものを選択（</a:t>
            </a:r>
            <a:r>
              <a:rPr lang="en-US" altLang="ja-JP" dirty="0"/>
              <a:t>UHS-I U3</a:t>
            </a:r>
            <a:r>
              <a:rPr lang="ja-JP" altLang="en-US" dirty="0"/>
              <a:t>推奨）</a:t>
            </a:r>
          </a:p>
        </p:txBody>
      </p:sp>
    </p:spTree>
    <p:extLst>
      <p:ext uri="{BB962C8B-B14F-4D97-AF65-F5344CB8AC3E}">
        <p14:creationId xmlns:p14="http://schemas.microsoft.com/office/powerpoint/2010/main" val="3961347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87</TotalTime>
  <Words>303</Words>
  <Application>Microsoft Office PowerPoint</Application>
  <PresentationFormat>画面に合わせる (4:3)</PresentationFormat>
  <Paragraphs>79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f24n001g</dc:creator>
  <cp:lastModifiedBy>f24n001g</cp:lastModifiedBy>
  <cp:revision>5</cp:revision>
  <cp:lastPrinted>2025-08-14T05:45:10Z</cp:lastPrinted>
  <dcterms:created xsi:type="dcterms:W3CDTF">2025-08-01T03:55:46Z</dcterms:created>
  <dcterms:modified xsi:type="dcterms:W3CDTF">2025-08-15T00:32:06Z</dcterms:modified>
</cp:coreProperties>
</file>